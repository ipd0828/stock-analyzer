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19"/>
  </p:notesMasterIdLst>
  <p:sldIdLst>
    <p:sldId id="258" r:id="rId2"/>
    <p:sldId id="286" r:id="rId3"/>
    <p:sldId id="285" r:id="rId4"/>
    <p:sldId id="282" r:id="rId5"/>
    <p:sldId id="284" r:id="rId6"/>
    <p:sldId id="287" r:id="rId7"/>
    <p:sldId id="292" r:id="rId8"/>
    <p:sldId id="290" r:id="rId9"/>
    <p:sldId id="293" r:id="rId10"/>
    <p:sldId id="295" r:id="rId11"/>
    <p:sldId id="294" r:id="rId12"/>
    <p:sldId id="301" r:id="rId13"/>
    <p:sldId id="296" r:id="rId14"/>
    <p:sldId id="283" r:id="rId15"/>
    <p:sldId id="297" r:id="rId16"/>
    <p:sldId id="288" r:id="rId17"/>
    <p:sldId id="281" r:id="rId18"/>
  </p:sldIdLst>
  <p:sldSz cx="12192000" cy="6858000"/>
  <p:notesSz cx="6858000" cy="9144000"/>
  <p:embeddedFontLst>
    <p:embeddedFont>
      <p:font typeface="Montserrat" panose="00000500000000000000" pitchFamily="2" charset="-52"/>
      <p:regular r:id="rId20"/>
      <p:bold r:id="rId21"/>
      <p:italic r:id="rId22"/>
      <p:boldItalic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5BB"/>
    <a:srgbClr val="FFFFFF"/>
    <a:srgbClr val="00BBEE"/>
    <a:srgbClr val="2177CF"/>
    <a:srgbClr val="FF7300"/>
    <a:srgbClr val="E46C2A"/>
    <a:srgbClr val="0061AF"/>
    <a:srgbClr val="8F9092"/>
    <a:srgbClr val="DDDEDE"/>
    <a:srgbClr val="222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01" autoAdjust="0"/>
    <p:restoredTop sz="95262" autoAdjust="0"/>
  </p:normalViewPr>
  <p:slideViewPr>
    <p:cSldViewPr snapToGrid="0" showGuides="1">
      <p:cViewPr varScale="1">
        <p:scale>
          <a:sx n="102" d="100"/>
          <a:sy n="102" d="100"/>
        </p:scale>
        <p:origin x="522" y="102"/>
      </p:cViewPr>
      <p:guideLst>
        <p:guide pos="3840"/>
        <p:guide orient="horz" pos="21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A0A9D-DF74-460E-8391-5145456B1F47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C36C8-09F3-4410-B7BD-45FEDBE13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918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C36C8-09F3-4410-B7BD-45FEDBE13C1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92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lenta_war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Lenta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Война)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lenta_sanctions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Lenta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Санкции)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lenta_negative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Lenta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Негатив)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comments_negative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SmartLab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Негатив)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comments_price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SmartLab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Обсуждение цены)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comments_dividends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SmartLab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Обсуждение дивидендов)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C36C8-09F3-4410-B7BD-45FEDBE13C1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0923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nta.ru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>
          <a:xfrm>
            <a:off x="5493652" y="6176189"/>
            <a:ext cx="1999861" cy="276999"/>
          </a:xfrm>
        </p:spPr>
        <p:txBody>
          <a:bodyPr/>
          <a:lstStyle/>
          <a:p>
            <a:r>
              <a:rPr lang="ru-RU" sz="1200" dirty="0">
                <a:solidFill>
                  <a:schemeClr val="tx1"/>
                </a:solidFill>
              </a:rPr>
              <a:t>г. Москва, 2026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560194" y="3268327"/>
            <a:ext cx="8877317" cy="1815882"/>
          </a:xfrm>
        </p:spPr>
        <p:txBody>
          <a:bodyPr/>
          <a:lstStyle/>
          <a:p>
            <a:pPr algn="just"/>
            <a:r>
              <a:rPr lang="ru-RU" sz="2800" dirty="0"/>
              <a:t>Автоматизированная система фундаментального анализа участников рынка и предиктивной аналитики на основе методов машинного обучения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2FF6FE-1D7A-D0E5-1922-C8C29B9E48C0}"/>
              </a:ext>
            </a:extLst>
          </p:cNvPr>
          <p:cNvSpPr txBox="1"/>
          <p:nvPr/>
        </p:nvSpPr>
        <p:spPr>
          <a:xfrm>
            <a:off x="3013843" y="620713"/>
            <a:ext cx="91781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МИНИСТЕРСТВО НАУКИ И ВЫСШЕГО ОБРАЗОВАНИЯ РОССИЙСКОЙ ФЕДЕРАЦИИ</a:t>
            </a:r>
            <a:r>
              <a:rPr lang="en-US" sz="1400" dirty="0">
                <a:latin typeface="Montserrat" panose="00000500000000000000" pitchFamily="2" charset="-52"/>
              </a:rPr>
              <a:t> 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ФЕДЕРАЛЬНОЕ ГОСУДАРСТВЕННОЕ АВТОНОМНОЕ</a:t>
            </a:r>
            <a:endParaRPr lang="ru-RU" sz="1400" b="0" dirty="0">
              <a:effectLst/>
              <a:latin typeface="Montserrat" panose="00000500000000000000" pitchFamily="2" charset="-52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ОБРАЗОВАТЕЛЬНОЕ УЧРЕЖДЕНИЕ ВЫСШЕГО ОБРАЗОВАНИЯ</a:t>
            </a:r>
            <a:endParaRPr lang="ru-RU" sz="1400" b="0" dirty="0">
              <a:effectLst/>
              <a:latin typeface="Montserrat" panose="00000500000000000000" pitchFamily="2" charset="-52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“НАЦИОНАЛЬНЫЙ ИССЛЕДОВАТЕЛЬСКИЙ ЯДЕРНЫЙ УНИВЕРСИТЕТ МИФИ”</a:t>
            </a:r>
            <a:endParaRPr lang="ru-RU" sz="1400" b="0" dirty="0">
              <a:effectLst/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72146-C22C-050B-0D43-48044B94F739}"/>
              </a:ext>
            </a:extLst>
          </p:cNvPr>
          <p:cNvSpPr txBox="1"/>
          <p:nvPr/>
        </p:nvSpPr>
        <p:spPr>
          <a:xfrm>
            <a:off x="3589580" y="1576183"/>
            <a:ext cx="80266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Кафедра</a:t>
            </a:r>
          </a:p>
          <a:p>
            <a:pPr algn="ctr"/>
            <a:r>
              <a:rPr lang="ru-RU" sz="1400" dirty="0">
                <a:solidFill>
                  <a:srgbClr val="333333"/>
                </a:solidFill>
                <a:latin typeface="Montserrat" panose="00000500000000000000" pitchFamily="2" charset="-52"/>
              </a:rPr>
              <a:t>Криптологии и Кибербезопасности</a:t>
            </a:r>
            <a:endParaRPr lang="ru-RU" sz="1400" dirty="0"/>
          </a:p>
        </p:txBody>
      </p:sp>
      <p:sp>
        <p:nvSpPr>
          <p:cNvPr id="6" name="Текст 11">
            <a:extLst>
              <a:ext uri="{FF2B5EF4-FFF2-40B4-BE49-F238E27FC236}">
                <a16:creationId xmlns:a16="http://schemas.microsoft.com/office/drawing/2014/main" id="{359D3885-4473-2507-589A-88D96C1A6303}"/>
              </a:ext>
            </a:extLst>
          </p:cNvPr>
          <p:cNvSpPr txBox="1">
            <a:spLocks/>
          </p:cNvSpPr>
          <p:nvPr/>
        </p:nvSpPr>
        <p:spPr>
          <a:xfrm>
            <a:off x="560194" y="5543426"/>
            <a:ext cx="3298466" cy="8309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solidFill>
                  <a:schemeClr val="tx1"/>
                </a:solidFill>
                <a:latin typeface="Montserrat" panose="020B0604020202020204" charset="-52"/>
              </a:rPr>
              <a:t>Иванюгин Николай Николаевич, студент МИФИ, группа М24-525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AC1307-484E-A822-7334-FCFA016137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Тема ВКР:</a:t>
            </a:r>
          </a:p>
        </p:txBody>
      </p:sp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B23793-7FA3-835A-1BF6-C11FFE6CB1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1" y="1280160"/>
            <a:ext cx="11236189" cy="5512058"/>
          </a:xfrm>
        </p:spPr>
        <p:txBody>
          <a:bodyPr/>
          <a:lstStyle/>
          <a:p>
            <a:pPr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работы </a:t>
            </a:r>
            <a:r>
              <a:rPr lang="ru-RU" sz="2400" b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 разработка автоматизированной системы для сбора и интеллектуального анализа разнородных сведений, информационного фона и фундаментальных данных для оценки текущей и будущей ценовой динамики стоимости акций российских компаний с использованием методов машинного обучения.</a:t>
            </a:r>
          </a:p>
          <a:p>
            <a:pPr algn="just"/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ОСНОВНЫЕ ЗАДАЧИ:</a:t>
            </a:r>
          </a:p>
          <a:p>
            <a:pPr marL="285750" indent="-285750" algn="just">
              <a:buFontTx/>
              <a:buChar char="-"/>
            </a:pPr>
            <a:r>
              <a:rPr lang="ru-RU" sz="2400" b="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сбор данных из источников,</a:t>
            </a:r>
          </a:p>
          <a:p>
            <a:pPr marL="285750" indent="-285750" algn="just">
              <a:buFontTx/>
              <a:buChar char="-"/>
            </a:pPr>
            <a:r>
              <a:rPr lang="ru-RU" sz="2400" b="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классификация заголовков статей, комментариев и текстов через LLM, </a:t>
            </a:r>
          </a:p>
          <a:p>
            <a:pPr marL="285750" indent="-285750" algn="just">
              <a:buFontTx/>
              <a:buChar char="-"/>
            </a:pPr>
            <a:r>
              <a:rPr lang="ru-RU" sz="2400" b="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формирование датасета/базы данных, </a:t>
            </a:r>
          </a:p>
          <a:p>
            <a:pPr marL="285750" indent="-285750" algn="just">
              <a:buFontTx/>
              <a:buChar char="-"/>
            </a:pPr>
            <a:r>
              <a:rPr lang="ru-RU" sz="2400" b="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корреляционный и фундаментальный анализ, </a:t>
            </a:r>
          </a:p>
          <a:p>
            <a:pPr marL="285750" indent="-285750" algn="just">
              <a:buFontTx/>
              <a:buChar char="-"/>
            </a:pPr>
            <a:r>
              <a:rPr lang="ru-RU" sz="2400" b="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обучение и сравнение ML-моделей, </a:t>
            </a:r>
          </a:p>
          <a:p>
            <a:pPr marL="285750" indent="-285750" algn="just">
              <a:buFontTx/>
              <a:buChar char="-"/>
            </a:pPr>
            <a:r>
              <a:rPr lang="ru-RU" sz="2400" b="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создание веб-интерфейса.</a:t>
            </a:r>
          </a:p>
        </p:txBody>
      </p:sp>
    </p:spTree>
    <p:extLst>
      <p:ext uri="{BB962C8B-B14F-4D97-AF65-F5344CB8AC3E}">
        <p14:creationId xmlns:p14="http://schemas.microsoft.com/office/powerpoint/2010/main" val="161124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dirty="0"/>
              <a:t>и сбор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B23793-7FA3-835A-1BF6-C11FFE6CB1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2" y="1281785"/>
            <a:ext cx="11260474" cy="5262979"/>
          </a:xfrm>
        </p:spPr>
        <p:txBody>
          <a:bodyPr/>
          <a:lstStyle/>
          <a:p>
            <a:pPr algn="just"/>
            <a:r>
              <a:rPr lang="ru-RU" sz="28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собирались: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Московской биржи (котировки) - бесплатно,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ЦБ РФ (ставка, курс USD) бесплатно,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форума Smart-Lab (комментарии, новости, статьи) – </a:t>
            </a:r>
            <a:r>
              <a:rPr lang="ru-RU" sz="2400" dirty="0" err="1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r>
              <a:rPr lang="ru-RU" sz="24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новостного портала </a:t>
            </a:r>
            <a:r>
              <a:rPr lang="ru-RU" sz="24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Lenta.ru</a:t>
            </a:r>
            <a:r>
              <a:rPr lang="ru-RU" sz="24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(заголовки) – </a:t>
            </a:r>
            <a:r>
              <a:rPr lang="ru-RU" sz="2400" dirty="0" err="1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r>
              <a:rPr lang="ru-RU" sz="24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официальный сайт ПАО «Газпром» и др. компаний – </a:t>
            </a:r>
            <a:r>
              <a:rPr lang="ru-RU" sz="2400" dirty="0" err="1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r>
              <a:rPr lang="ru-RU" sz="24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FinanceMarker</a:t>
            </a:r>
            <a:r>
              <a:rPr lang="ru-RU" sz="24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 (фундаментальные показатели) – подписка. </a:t>
            </a:r>
          </a:p>
          <a:p>
            <a:pPr algn="just"/>
            <a:endParaRPr lang="ru-RU" sz="2000" dirty="0">
              <a:solidFill>
                <a:srgbClr val="222A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 реализован ручной сбор данных из PDF-отчетов компаний, однако он менее точен, при плохом качестве скана отчета, возникают ошибки.</a:t>
            </a:r>
          </a:p>
          <a:p>
            <a:pPr algn="just"/>
            <a:r>
              <a:rPr lang="ru-RU" sz="1800" b="0" i="1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получилось собрать данные из </a:t>
            </a:r>
            <a:r>
              <a:rPr lang="en-US" sz="1800" b="0" i="1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e-disclosure.ru (</a:t>
            </a:r>
            <a:r>
              <a:rPr lang="ru-RU" sz="1800" b="0" i="1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Интерфакс</a:t>
            </a:r>
            <a:r>
              <a:rPr lang="en-US" sz="1800" b="0" i="1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ru-RU" sz="1800" b="0" i="1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других более популярных порталов из-за современных методов защиты от </a:t>
            </a:r>
            <a:r>
              <a:rPr lang="ru-RU" sz="1800" b="0" i="1" dirty="0" err="1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парсинга</a:t>
            </a:r>
            <a:r>
              <a:rPr lang="ru-RU" sz="1800" b="0" i="1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Подобные компании успешно продают свои данные по </a:t>
            </a:r>
            <a:r>
              <a:rPr lang="en-US" sz="1800" b="0" i="1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API.</a:t>
            </a:r>
          </a:p>
          <a:p>
            <a:pPr algn="just"/>
            <a:r>
              <a:rPr lang="ru-RU" sz="1800" b="0" i="1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Сбор данных занял более 2-х недель. Некоторые сайты после </a:t>
            </a:r>
            <a:r>
              <a:rPr lang="ru-RU" sz="1800" b="0" i="1" dirty="0" err="1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парсинга</a:t>
            </a:r>
            <a:r>
              <a:rPr lang="ru-RU" sz="1800" b="0" i="1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ввели защитные механизмы.</a:t>
            </a:r>
          </a:p>
        </p:txBody>
      </p:sp>
    </p:spTree>
    <p:extLst>
      <p:ext uri="{BB962C8B-B14F-4D97-AF65-F5344CB8AC3E}">
        <p14:creationId xmlns:p14="http://schemas.microsoft.com/office/powerpoint/2010/main" val="1395985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Итоговая архитектура ИС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8E3274-68C1-4A28-FA3A-9A46D0116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076" y="1213657"/>
            <a:ext cx="9398924" cy="56443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2A76E5-8B12-4C89-7ED3-5F16FDB1C849}"/>
              </a:ext>
            </a:extLst>
          </p:cNvPr>
          <p:cNvSpPr txBox="1"/>
          <p:nvPr/>
        </p:nvSpPr>
        <p:spPr>
          <a:xfrm>
            <a:off x="382385" y="1911927"/>
            <a:ext cx="241069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0" i="0" dirty="0">
                <a:solidFill>
                  <a:srgbClr val="0055B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модульная архитектура. </a:t>
            </a:r>
          </a:p>
          <a:p>
            <a:endParaRPr lang="ru-RU" sz="1600" dirty="0">
              <a:solidFill>
                <a:srgbClr val="0055B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0" i="0" dirty="0">
                <a:solidFill>
                  <a:srgbClr val="0055B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элемент — </a:t>
            </a:r>
            <a:r>
              <a:rPr lang="ru-RU" sz="1600" b="0" i="0" dirty="0" err="1">
                <a:solidFill>
                  <a:srgbClr val="0055B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</a:t>
            </a:r>
            <a:r>
              <a:rPr lang="ru-RU" sz="1600" b="0" i="0" dirty="0">
                <a:solidFill>
                  <a:srgbClr val="0055B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базе LLM (</a:t>
            </a:r>
            <a:r>
              <a:rPr lang="ru-RU" sz="1600" b="0" i="0" dirty="0" err="1">
                <a:solidFill>
                  <a:srgbClr val="0055B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lang="ru-RU" sz="1600" b="0" i="0" dirty="0">
                <a:solidFill>
                  <a:srgbClr val="0055B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3.6-35B) для классификации и оценки новостей.</a:t>
            </a:r>
          </a:p>
          <a:p>
            <a:endParaRPr lang="ru-RU" sz="1600" dirty="0">
              <a:solidFill>
                <a:srgbClr val="0055B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0" i="0" dirty="0">
                <a:solidFill>
                  <a:srgbClr val="0055B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хранятся в </a:t>
            </a:r>
            <a:r>
              <a:rPr lang="ru-RU" sz="1600" b="0" i="0" dirty="0" err="1">
                <a:solidFill>
                  <a:srgbClr val="0055B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1600" b="0" i="0" dirty="0">
                <a:solidFill>
                  <a:srgbClr val="0055B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ru-RU" sz="1600" dirty="0">
              <a:solidFill>
                <a:srgbClr val="0055B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0" i="0" dirty="0">
                <a:solidFill>
                  <a:srgbClr val="0055B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реализован на </a:t>
            </a:r>
            <a:r>
              <a:rPr lang="ru-RU" sz="1600" b="0" i="0" dirty="0" err="1">
                <a:solidFill>
                  <a:srgbClr val="0055B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ru-RU" sz="1600" b="0" i="0" dirty="0">
                <a:solidFill>
                  <a:srgbClr val="0055B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b="1" dirty="0">
              <a:solidFill>
                <a:srgbClr val="0055B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62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LLM-</a:t>
            </a:r>
            <a:r>
              <a:rPr lang="ru-RU" dirty="0"/>
              <a:t>классификация информационного фона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EFDCDDC-02BE-0770-F7F8-7611213346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5880" y="1379577"/>
            <a:ext cx="11219563" cy="5478423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Развернут LLM-сервер на базе llama.cpp с моделью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2.5 9B,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3.5 9G,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3.6-35B в режиме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non-thinking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разных типов данных используются разные модели классификации, что является ключевой архитектурной особенностью системы.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Классификация </a:t>
            </a:r>
            <a:r>
              <a:rPr lang="ru-RU" altLang="ru-RU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заголовков Lenta.ru 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(скрипт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classify_lenta_final.py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заголовки новостей с портала</a:t>
            </a:r>
            <a:r>
              <a:rPr lang="ru-RU" alt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Lenta.ru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 (8 шт.):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WAR, SANCTIONS, OIL_GAS, MARKET, POLITICAL, CATASTROPHE, INCIDENT, OTHER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Тональность (3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.):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POSITIVE, NEGATIVE, NEUTRAL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Количественная оценка общего макроэкономического и геополитического фона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Классификация комментариев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SmartLab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(скрипт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classify_batch_advanced.py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комментарии пользователей с форума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SmartLab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 (6 шт.):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PRICE, DIVIDENDS, REPORTS, MACRO, NEWS, OTHER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Тональность (3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.):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POSITIVE, NEGATIVE, NEUTRAL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Понимание настроений и фокуса внимания рыночного сообщества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LLM-анализ новостей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SmartLab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(в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app.py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новости компании, собранные через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Выход: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price_impact_percent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Оценка ожидаемого влияния конкретных новостей на цену акций (в %)</a:t>
            </a:r>
          </a:p>
          <a:p>
            <a:endParaRPr lang="ru-RU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D046580-4B7E-77DC-1AB1-4493DE0E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98"/>
            <a:ext cx="65" cy="4084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506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647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LLM-</a:t>
            </a:r>
            <a:r>
              <a:rPr lang="ru-RU" dirty="0"/>
              <a:t>классификация информационного фона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EFDCDDC-02BE-0770-F7F8-7611213346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1529541"/>
            <a:ext cx="11219563" cy="4647426"/>
          </a:xfrm>
        </p:spPr>
        <p:txBody>
          <a:bodyPr/>
          <a:lstStyle/>
          <a:p>
            <a:pPr algn="l"/>
            <a:r>
              <a:rPr lang="ru-RU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работы LLM-классификации: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Заголовок 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Lenta.ru:</a:t>
            </a:r>
            <a:b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"США ввели новый пакет санкций против российских банков"</a:t>
            </a:r>
            <a:b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SANCTIONS |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NEGATIVE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Заголовок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Lenta.ru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"Цены на нефть Brent превысили $85 за баррель"</a:t>
            </a:r>
            <a:b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OIL_GAS |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POSITIVE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Комментарий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SmartLab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"Сбер выплатит рекордные дивиденды за 2025 год"</a:t>
            </a:r>
            <a:b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DIVIDENDS |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POSITIVE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Комментарий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SmartLab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"Технический анализ показывает, что акции Сбера перекуплены"</a:t>
            </a:r>
            <a:b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PRICE |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NEGATIVE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Новость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SmartLab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(LLM-анализ) для акций Газпрома:</a:t>
            </a:r>
            <a:b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i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Газпром в 2025 году увеличил поставки газа по второй нитке Турецкого потока за счет новых соглашений "</a:t>
            </a:r>
            <a:br>
              <a:rPr lang="ru-RU" i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 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STRONG_POSITIVE |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Impact</a:t>
            </a: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</a:t>
            </a: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+0.8% | 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(Уверенность):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0.75</a:t>
            </a:r>
            <a:b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 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"Увеличение поставок газа по Турецкому потоку свидетельствует о диверсификации экспортных маршрутов и сохранении доходов в условиях санкций, что является позитивным фундаментальным фактором для Газпрома, несмотря на общий негативный фон рынка."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D046580-4B7E-77DC-1AB1-4493DE0E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98"/>
            <a:ext cx="65" cy="4084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506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74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информационного фона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EFDCDDC-02BE-0770-F7F8-7611213346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1342118"/>
            <a:ext cx="11219563" cy="5570756"/>
          </a:xfrm>
        </p:spPr>
        <p:txBody>
          <a:bodyPr/>
          <a:lstStyle/>
          <a:p>
            <a:pPr algn="l"/>
            <a:r>
              <a:rPr lang="ru-RU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Какие были варианты и почему именно</a:t>
            </a: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LLM</a:t>
            </a:r>
            <a:r>
              <a:rPr lang="ru-RU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ru-RU" sz="1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семейства </a:t>
            </a:r>
            <a:r>
              <a:rPr lang="en-US" sz="1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 – </a:t>
            </a:r>
            <a:r>
              <a:rPr lang="en-US" sz="1200" b="1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ruBert</a:t>
            </a:r>
            <a:r>
              <a:rPr lang="en-US" sz="1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ru-RU" sz="1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Плюсы: </a:t>
            </a:r>
          </a:p>
          <a:p>
            <a:pPr marL="285750" indent="-285750" algn="l">
              <a:buFontTx/>
              <a:buChar char="-"/>
            </a:pP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скорость классификации, минуты </a:t>
            </a:r>
            <a:r>
              <a:rPr lang="en-US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650 тысяч комментариев;</a:t>
            </a:r>
          </a:p>
          <a:p>
            <a:pPr marL="285750" indent="-285750" algn="l">
              <a:buFontTx/>
              <a:buChar char="-"/>
            </a:pP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на </a:t>
            </a:r>
            <a:r>
              <a:rPr lang="en-US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(приемлемая скорость).</a:t>
            </a:r>
          </a:p>
          <a:p>
            <a:pPr algn="l"/>
            <a:r>
              <a:rPr lang="ru-RU" sz="1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 </a:t>
            </a:r>
          </a:p>
          <a:p>
            <a:pPr marL="285750" indent="-285750" algn="l">
              <a:buFontTx/>
              <a:buChar char="-"/>
            </a:pP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низкие метрики </a:t>
            </a:r>
            <a:r>
              <a:rPr lang="en-US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| Recall </a:t>
            </a: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максимальный тест  </a:t>
            </a:r>
            <a:r>
              <a:rPr lang="en-US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 </a:t>
            </a: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76%. Попытки дообучения на классифицированных ЛЛМ комментариях повысила качество до 81%;</a:t>
            </a:r>
          </a:p>
          <a:p>
            <a:pPr marL="285750" indent="-285750" algn="l">
              <a:buFontTx/>
              <a:buChar char="-"/>
            </a:pP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чтобы одновременно оценить комментарий по сентименту и теме , нужны разные модели. </a:t>
            </a:r>
          </a:p>
          <a:p>
            <a:pPr algn="l"/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можно сказать о БЯМ(</a:t>
            </a:r>
            <a:r>
              <a:rPr lang="en-US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LLM)</a:t>
            </a: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ru-RU" sz="1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Ложка дегтя в сторону </a:t>
            </a:r>
            <a:r>
              <a:rPr lang="en-US" sz="1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ru-RU" sz="1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время на классификацию комментариев 12 дней;</a:t>
            </a:r>
          </a:p>
          <a:p>
            <a:pPr marL="285750" indent="-285750" algn="l">
              <a:buFontTx/>
              <a:buChar char="-"/>
            </a:pP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время на классификацию заголовков 10 дней;</a:t>
            </a:r>
          </a:p>
          <a:p>
            <a:pPr marL="285750" indent="-285750" algn="l">
              <a:buFontTx/>
              <a:buChar char="-"/>
            </a:pP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Время оценки одной статьи около 30 секунд (зависит от модели и железа </a:t>
            </a:r>
            <a:r>
              <a:rPr lang="en-US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NVIDIA RTX</a:t>
            </a: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-5060 16</a:t>
            </a:r>
            <a:r>
              <a:rPr lang="en-US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l">
              <a:buFontTx/>
              <a:buChar char="-"/>
            </a:pP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цена ошибки запуска эксперимента.</a:t>
            </a:r>
          </a:p>
          <a:p>
            <a:pPr algn="l"/>
            <a:r>
              <a:rPr lang="ru-RU" sz="1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Какие плюсы и наблюдения:</a:t>
            </a:r>
          </a:p>
          <a:p>
            <a:pPr marL="285750" indent="-285750" algn="l">
              <a:buFontTx/>
              <a:buChar char="-"/>
            </a:pP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выше 90% в зависимости от модели. На основе данных о точности моделей и моей внутренний выборки в 100 комментариев, которые самостоятельно разметил;</a:t>
            </a:r>
          </a:p>
          <a:p>
            <a:pPr marL="285750" indent="-285750" algn="l">
              <a:buFontTx/>
              <a:buChar char="-"/>
            </a:pP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одна модель может решать большое количество задач, зависит от вариантов </a:t>
            </a:r>
            <a:r>
              <a:rPr lang="ru-RU" sz="1200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промта</a:t>
            </a: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6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 ЛЛМ практически не ошибается, выбор в пользу качества. Исключение, это ее предвзятость к заложенным внутрь этическим нормам. Скорее она не ошибалась, а ее так научили, видеть события под таким углом.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D046580-4B7E-77DC-1AB1-4493DE0E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98"/>
            <a:ext cx="65" cy="4084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506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76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Фундаментальный анализ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EFDCDDC-02BE-0770-F7F8-7611213346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3" y="1529541"/>
            <a:ext cx="3643260" cy="2600712"/>
          </a:xfrm>
        </p:spPr>
        <p:txBody>
          <a:bodyPr/>
          <a:lstStyle/>
          <a:p>
            <a:pPr algn="l"/>
            <a:r>
              <a:rPr lang="ru-RU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работы LLM-классификации:</a:t>
            </a: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данных МСФО из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(источник </a:t>
            </a:r>
            <a:r>
              <a:rPr lang="ru-RU" sz="1400" dirty="0" err="1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FinanceMarker</a:t>
            </a:r>
            <a:r>
              <a:rPr lang="ru-RU" sz="1400" dirty="0">
                <a:solidFill>
                  <a:srgbClr val="22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за 2020-2025 гг. рассчитаны фундаментальные показатели. Выявлен экстремальный дисконт акций "Газпрома" к балансовой стоимости (BVPS). P/BV на конец 2025 года составляет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0.18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что соответствует дисконту в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82%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Это подтверждает значительное влияние нефинансовых рисков.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D046580-4B7E-77DC-1AB1-4493DE0E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98"/>
            <a:ext cx="65" cy="4084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506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6BA295-66CF-379F-BCF6-412C2A3DB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742" y="1299788"/>
            <a:ext cx="7694849" cy="545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04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Структурные сдвиги в информационном фоне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EFDCDDC-02BE-0770-F7F8-7611213346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8295" y="1529540"/>
            <a:ext cx="1956065" cy="4585871"/>
          </a:xfrm>
        </p:spPr>
        <p:txBody>
          <a:bodyPr/>
          <a:lstStyle/>
          <a:p>
            <a:pPr algn="l"/>
            <a:r>
              <a:rPr lang="ru-RU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:</a:t>
            </a:r>
          </a:p>
          <a:p>
            <a:pPr algn="l"/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методом t-теста показал, что после февраля 2022 года военная тема в новостях выросла на +52.8%, тема санкций — на +213.1%. При этом активность на Smart-Lab парадоксальным образом упала на 46.1%. Это доказывает разнонаправленную реакцию источников. </a:t>
            </a:r>
            <a:b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Количество дней после события: ±60 календарных дней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D046580-4B7E-77DC-1AB1-4493DE0E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98"/>
            <a:ext cx="65" cy="4084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506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16AC01-7C10-C347-E4B2-0C419681F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419" y="1529540"/>
            <a:ext cx="8243535" cy="503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443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Структурные сдвиги в информационном фоне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EFDCDDC-02BE-0770-F7F8-7611213346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8295" y="1529540"/>
            <a:ext cx="1956065" cy="4093428"/>
          </a:xfrm>
        </p:spPr>
        <p:txBody>
          <a:bodyPr/>
          <a:lstStyle/>
          <a:p>
            <a:pPr algn="l"/>
            <a:r>
              <a:rPr lang="ru-RU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:</a:t>
            </a:r>
          </a:p>
          <a:p>
            <a:pPr algn="l"/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методом t-теста показал, что после февраля 2022 года военная тема в новостях выросла на +52.8%,</a:t>
            </a:r>
            <a:endParaRPr lang="en-US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 санкций — на +213.1%. </a:t>
            </a:r>
            <a:endParaRPr lang="en-US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этом активность на Smart-Lab парадоксальным образом упала на 46.1%. </a:t>
            </a:r>
            <a:endParaRPr lang="en-US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 показывает разнонаправленную реакцию источников.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D046580-4B7E-77DC-1AB1-4493DE0E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98"/>
            <a:ext cx="65" cy="4084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506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4DE4CE8-DE59-891A-8D0E-FFB6BED0C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360" y="1520080"/>
            <a:ext cx="9957640" cy="497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372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Структурные сдвиги в информационном фоне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EFDCDDC-02BE-0770-F7F8-7611213346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8295" y="1529540"/>
            <a:ext cx="1956065" cy="2139047"/>
          </a:xfrm>
        </p:spPr>
        <p:txBody>
          <a:bodyPr/>
          <a:lstStyle/>
          <a:p>
            <a:pPr algn="l"/>
            <a:r>
              <a:rPr lang="ru-RU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:</a:t>
            </a:r>
          </a:p>
          <a:p>
            <a:pPr algn="l"/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падения сопровождаются всплесками негатива в комментариях и новостях, как на предыдущем слайде. </a:t>
            </a:r>
            <a:b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Также реагирует объем торгов.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D046580-4B7E-77DC-1AB1-4493DE0E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98"/>
            <a:ext cx="65" cy="4084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506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B6CD5C-F2A8-C2F3-59C5-8535FA65AB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080" y="1529540"/>
            <a:ext cx="9894920" cy="494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19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Топ ранговых корреляций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D046580-4B7E-77DC-1AB1-4493DE0E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98"/>
            <a:ext cx="65" cy="4084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506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67FE54-9CB8-0E22-9B9A-2DD399577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585" y="1252456"/>
            <a:ext cx="8408316" cy="560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789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</p:spPr>
        <p:txBody>
          <a:bodyPr/>
          <a:lstStyle/>
          <a:p>
            <a:r>
              <a:rPr lang="ru-RU" dirty="0"/>
              <a:t>Сравнение </a:t>
            </a:r>
            <a:r>
              <a:rPr lang="en-US" dirty="0"/>
              <a:t>ML-</a:t>
            </a:r>
            <a:r>
              <a:rPr lang="ru-RU" dirty="0"/>
              <a:t>моделей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EFDCDDC-02BE-0770-F7F8-7611213346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8295" y="1529540"/>
            <a:ext cx="11648662" cy="702505"/>
          </a:xfrm>
        </p:spPr>
        <p:txBody>
          <a:bodyPr/>
          <a:lstStyle/>
          <a:p>
            <a:pPr algn="l"/>
            <a:r>
              <a:rPr lang="ru-RU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Протестировано 8 типов моделей на 4 наборах признаков.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D046580-4B7E-77DC-1AB1-4493DE0E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98"/>
            <a:ext cx="65" cy="4084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506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80F81AB1-C9E9-CC32-FB91-D1540F92D76C}"/>
              </a:ext>
            </a:extLst>
          </p:cNvPr>
          <p:cNvSpPr txBox="1">
            <a:spLocks/>
          </p:cNvSpPr>
          <p:nvPr/>
        </p:nvSpPr>
        <p:spPr>
          <a:xfrm>
            <a:off x="4082614" y="1977275"/>
            <a:ext cx="3294111" cy="21236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4 наборах признаков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ru-RU" dirty="0" err="1">
                <a:solidFill>
                  <a:srgbClr val="0F1115"/>
                </a:solidFill>
                <a:latin typeface="quote-cjk-patch"/>
              </a:rPr>
              <a:t>Baseline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(только лаги цены)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Информационный фон (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Lenta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+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SmartLab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Фундаментальные показатели (BVPS, EPS, P/E)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Все признаки (объединение всех трёх наборов)</a:t>
            </a:r>
          </a:p>
        </p:txBody>
      </p:sp>
      <p:sp>
        <p:nvSpPr>
          <p:cNvPr id="5" name="Текст 5">
            <a:extLst>
              <a:ext uri="{FF2B5EF4-FFF2-40B4-BE49-F238E27FC236}">
                <a16:creationId xmlns:a16="http://schemas.microsoft.com/office/drawing/2014/main" id="{A7FD7216-22F5-FD34-012E-CD1C541BDB05}"/>
              </a:ext>
            </a:extLst>
          </p:cNvPr>
          <p:cNvSpPr txBox="1">
            <a:spLocks/>
          </p:cNvSpPr>
          <p:nvPr/>
        </p:nvSpPr>
        <p:spPr>
          <a:xfrm>
            <a:off x="788503" y="1977275"/>
            <a:ext cx="3294111" cy="415498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8 типов моделей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ru-RU" b="1" dirty="0" err="1">
                <a:solidFill>
                  <a:srgbClr val="0F1115"/>
                </a:solidFill>
                <a:latin typeface="quote-cjk-patch"/>
              </a:rPr>
              <a:t>Ridge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(линейная регрессия с L2-регуляризацией)</a:t>
            </a:r>
          </a:p>
          <a:p>
            <a:pPr>
              <a:buFont typeface="+mj-lt"/>
              <a:buAutoNum type="arabicPeriod"/>
            </a:pPr>
            <a:r>
              <a:rPr lang="ru-RU" b="1" dirty="0" err="1">
                <a:solidFill>
                  <a:srgbClr val="0F1115"/>
                </a:solidFill>
                <a:latin typeface="quote-cjk-patch"/>
              </a:rPr>
              <a:t>Random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quote-cjk-patch"/>
              </a:rPr>
              <a:t>Forest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(случайный лес)</a:t>
            </a:r>
          </a:p>
          <a:p>
            <a:pPr>
              <a:buFont typeface="+mj-lt"/>
              <a:buAutoNum type="arabicPeriod"/>
            </a:pPr>
            <a:r>
              <a:rPr lang="ru-RU" b="1" dirty="0" err="1">
                <a:solidFill>
                  <a:srgbClr val="0F1115"/>
                </a:solidFill>
                <a:latin typeface="quote-cjk-patch"/>
              </a:rPr>
              <a:t>XGBoost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(градиентный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бустинг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SARIMAX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(сезонная ARIMA с экзогенными переменными)</a:t>
            </a:r>
          </a:p>
          <a:p>
            <a:pPr>
              <a:buFont typeface="+mj-lt"/>
              <a:buAutoNum type="arabicPeriod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ARIMA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(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авторегрессионная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интегрированная модель скользящего среднего)</a:t>
            </a:r>
          </a:p>
          <a:p>
            <a:pPr>
              <a:buFont typeface="+mj-lt"/>
              <a:buAutoNum type="arabicPeriod"/>
            </a:pPr>
            <a:r>
              <a:rPr lang="ru-RU" b="1" dirty="0" err="1">
                <a:solidFill>
                  <a:srgbClr val="0F1115"/>
                </a:solidFill>
                <a:latin typeface="quote-cjk-patch"/>
              </a:rPr>
              <a:t>Prophet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(модель Facebook для временных рядов)</a:t>
            </a:r>
          </a:p>
          <a:p>
            <a:pPr>
              <a:buFont typeface="+mj-lt"/>
              <a:buAutoNum type="arabicPeriod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LSTM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(долгая краткосрочная память — нейронная сеть)</a:t>
            </a:r>
          </a:p>
          <a:p>
            <a:pPr>
              <a:buFont typeface="+mj-lt"/>
              <a:buAutoNum type="arabicPeriod"/>
            </a:pPr>
            <a:r>
              <a:rPr lang="ru-RU" b="1" dirty="0" err="1">
                <a:solidFill>
                  <a:srgbClr val="0F1115"/>
                </a:solidFill>
                <a:latin typeface="quote-cjk-patch"/>
              </a:rPr>
              <a:t>Linear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quote-cjk-patch"/>
              </a:rPr>
              <a:t>Regression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(обычная линейная регрессия, использовалась как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baseline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)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A89720E-ABBB-63FB-FC50-99C4A6A952F2}"/>
              </a:ext>
            </a:extLst>
          </p:cNvPr>
          <p:cNvSpPr txBox="1">
            <a:spLocks/>
          </p:cNvSpPr>
          <p:nvPr/>
        </p:nvSpPr>
        <p:spPr>
          <a:xfrm>
            <a:off x="4082611" y="4165223"/>
            <a:ext cx="3294111" cy="20467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Лучший результат — 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Ridge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-регрессия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на лагах цены: </a:t>
            </a:r>
          </a:p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MAE = 1.47 руб., R² = 0.922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 Важность признаков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XGBoost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): </a:t>
            </a:r>
          </a:p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97% — лаги цены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&lt;2% — информационный фон. 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Вывод: для краткосрочного прогноза достаточно авторегрессии.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F5FF062-29F5-2230-D674-C6C9FAC50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693032"/>
              </p:ext>
            </p:extLst>
          </p:nvPr>
        </p:nvGraphicFramePr>
        <p:xfrm>
          <a:off x="7936154" y="1274427"/>
          <a:ext cx="3431371" cy="55744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7967">
                  <a:extLst>
                    <a:ext uri="{9D8B030D-6E8A-4147-A177-3AD203B41FA5}">
                      <a16:colId xmlns:a16="http://schemas.microsoft.com/office/drawing/2014/main" val="1557138545"/>
                    </a:ext>
                  </a:extLst>
                </a:gridCol>
                <a:gridCol w="721297">
                  <a:extLst>
                    <a:ext uri="{9D8B030D-6E8A-4147-A177-3AD203B41FA5}">
                      <a16:colId xmlns:a16="http://schemas.microsoft.com/office/drawing/2014/main" val="1806645643"/>
                    </a:ext>
                  </a:extLst>
                </a:gridCol>
                <a:gridCol w="778092">
                  <a:extLst>
                    <a:ext uri="{9D8B030D-6E8A-4147-A177-3AD203B41FA5}">
                      <a16:colId xmlns:a16="http://schemas.microsoft.com/office/drawing/2014/main" val="2859278359"/>
                    </a:ext>
                  </a:extLst>
                </a:gridCol>
                <a:gridCol w="744015">
                  <a:extLst>
                    <a:ext uri="{9D8B030D-6E8A-4147-A177-3AD203B41FA5}">
                      <a16:colId xmlns:a16="http://schemas.microsoft.com/office/drawing/2014/main" val="2274658856"/>
                    </a:ext>
                  </a:extLst>
                </a:gridCol>
              </a:tblGrid>
              <a:tr h="2213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Модель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MAE, руб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RMSE, руб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extLst>
                  <a:ext uri="{0D108BD9-81ED-4DB2-BD59-A6C34878D82A}">
                    <a16:rowId xmlns:a16="http://schemas.microsoft.com/office/drawing/2014/main" val="2101148876"/>
                  </a:ext>
                </a:extLst>
              </a:tr>
              <a:tr h="2213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Ridge (baseline)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1,47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2,12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0,922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538355098"/>
                  </a:ext>
                </a:extLst>
              </a:tr>
              <a:tr h="4025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(все признаки)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1,63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2,43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0,898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609167343"/>
                  </a:ext>
                </a:extLst>
              </a:tr>
              <a:tr h="2968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 (baseline)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1,69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2,31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0,907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2110961154"/>
                  </a:ext>
                </a:extLst>
              </a:tr>
              <a:tr h="2968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 (все признаки)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1,70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2,46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0,896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494086429"/>
                  </a:ext>
                </a:extLst>
              </a:tr>
              <a:tr h="4025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(baseline)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1,86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2,66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0,877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2363541643"/>
                  </a:ext>
                </a:extLst>
              </a:tr>
              <a:tr h="2968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Ridge</a:t>
                      </a: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(все признаки)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1,98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2,51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0,891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3361680818"/>
                  </a:ext>
                </a:extLst>
              </a:tr>
              <a:tr h="2968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(все признаки)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3,64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4,88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0,592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2842069200"/>
                  </a:ext>
                </a:extLst>
              </a:tr>
              <a:tr h="2968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SARIMAX (только цена)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5,55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7,62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-0,003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1860456829"/>
                  </a:ext>
                </a:extLst>
              </a:tr>
              <a:tr h="2968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ARIMA (только цена)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5,55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7,62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-0,003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3698575935"/>
                  </a:ext>
                </a:extLst>
              </a:tr>
              <a:tr h="4166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Ridge (фундаментальные)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8,24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9,53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-0,570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1691963209"/>
                  </a:ext>
                </a:extLst>
              </a:tr>
              <a:tr h="2968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 (инфорфон)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22,33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26,58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-11,21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357602670"/>
                  </a:ext>
                </a:extLst>
              </a:tr>
              <a:tr h="4025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(инфорфон)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22,67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26,85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-11,46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2964130831"/>
                  </a:ext>
                </a:extLst>
              </a:tr>
              <a:tr h="4166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 (фундаментальные)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22,75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23,94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-8,90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882969127"/>
                  </a:ext>
                </a:extLst>
              </a:tr>
              <a:tr h="4166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(фундаментальные)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22,84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24,03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-8,98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4011947196"/>
                  </a:ext>
                </a:extLst>
              </a:tr>
              <a:tr h="2968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Prophet (цена + макро)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37,64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42,84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-30,72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266165550"/>
                  </a:ext>
                </a:extLst>
              </a:tr>
              <a:tr h="2968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Ridge (инфорфон)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39,87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45,08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48092" marT="30058" marB="300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-34,13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2" marR="0" marT="30058" marB="30058" anchor="ctr"/>
                </a:tc>
                <a:extLst>
                  <a:ext uri="{0D108BD9-81ED-4DB2-BD59-A6C34878D82A}">
                    <a16:rowId xmlns:a16="http://schemas.microsoft.com/office/drawing/2014/main" val="181444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352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Прототип и</a:t>
            </a:r>
            <a:r>
              <a:rPr lang="en-US" dirty="0"/>
              <a:t> </a:t>
            </a:r>
            <a:r>
              <a:rPr lang="en-US" dirty="0" err="1"/>
              <a:t>MLOps</a:t>
            </a:r>
            <a:r>
              <a:rPr lang="ru-RU" dirty="0"/>
              <a:t> 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B23793-7FA3-835A-1BF6-C11FFE6CB1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1" y="1729294"/>
            <a:ext cx="7530179" cy="338554"/>
          </a:xfrm>
        </p:spPr>
        <p:txBody>
          <a:bodyPr/>
          <a:lstStyle/>
          <a:p>
            <a:r>
              <a:rPr lang="ru-RU" dirty="0"/>
              <a:t>Приложение </a:t>
            </a:r>
            <a:r>
              <a:rPr lang="en-US" dirty="0" err="1"/>
              <a:t>Streamlit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77DD34-23ED-7122-7030-0753B15587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2409035"/>
            <a:ext cx="2893566" cy="3416320"/>
          </a:xfrm>
        </p:spPr>
        <p:txBody>
          <a:bodyPr/>
          <a:lstStyle/>
          <a:p>
            <a:r>
              <a:rPr lang="ru-RU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Четырёхуровневая архитектура: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Верхний уровень — пользовательский интерфейс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Streamlit</a:t>
            </a:r>
            <a:r>
              <a:rPr lang="ru-RU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 с кнопками управления.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 Второй уровень — три параллельных модуля: сбора данных, машинного обучения и визуализации.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Третий уровень — LLM-сервис на базе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llama-server</a:t>
            </a:r>
            <a:r>
              <a:rPr lang="ru-RU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Четвёртый уровень —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Embedding</a:t>
            </a:r>
            <a:r>
              <a:rPr lang="ru-RU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-сервис для векторизации текстов.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E8E42A-0406-4720-540E-5FD68C8D8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095" y="1620206"/>
            <a:ext cx="7988766" cy="487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196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Прототип и</a:t>
            </a:r>
            <a:r>
              <a:rPr lang="en-US" dirty="0"/>
              <a:t> </a:t>
            </a:r>
            <a:r>
              <a:rPr lang="en-US" dirty="0" err="1"/>
              <a:t>MLOps</a:t>
            </a:r>
            <a:r>
              <a:rPr lang="ru-RU" dirty="0"/>
              <a:t> 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B23793-7FA3-835A-1BF6-C11FFE6CB1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1" y="1729294"/>
            <a:ext cx="2893565" cy="661720"/>
          </a:xfrm>
        </p:spPr>
        <p:txBody>
          <a:bodyPr/>
          <a:lstStyle/>
          <a:p>
            <a:r>
              <a:rPr lang="ru-RU" dirty="0"/>
              <a:t>Реализованы практики </a:t>
            </a:r>
            <a:r>
              <a:rPr lang="en-US" dirty="0" err="1"/>
              <a:t>MLOps</a:t>
            </a:r>
            <a:r>
              <a:rPr lang="en-US" dirty="0"/>
              <a:t>: 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77DD34-23ED-7122-7030-0753B15587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2409035"/>
            <a:ext cx="2893566" cy="212365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контейнеризация (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Compose),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 (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Prometheus, Grafana),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реестр моделей 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MLflow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непрерывное обучение 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cron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готова к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production-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развертыванию.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96A9AC-3E09-5407-8C4F-E3A838D37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215" y="1481461"/>
            <a:ext cx="7604857" cy="528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79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CC5A-6EDA-6789-361C-EF9C7B4D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77DD34-23ED-7122-7030-0753B15587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2531" y="1470992"/>
            <a:ext cx="11134525" cy="4832092"/>
          </a:xfrm>
        </p:spPr>
        <p:txBody>
          <a:bodyPr/>
          <a:lstStyle/>
          <a:p>
            <a:r>
              <a:rPr lang="ru-RU" sz="3200" b="1" dirty="0">
                <a:solidFill>
                  <a:schemeClr val="tx2"/>
                </a:solidFill>
                <a:ea typeface="+mj-ea"/>
                <a:cs typeface="+mj-cs"/>
              </a:rPr>
              <a:t>Создана автоматизированная система, интегрирующая фундаментальный анализ и анализ информационного фона. </a:t>
            </a:r>
          </a:p>
          <a:p>
            <a:endParaRPr lang="en-US" sz="3200" b="1" dirty="0">
              <a:solidFill>
                <a:schemeClr val="tx2"/>
              </a:solidFill>
              <a:ea typeface="+mj-ea"/>
              <a:cs typeface="+mj-cs"/>
            </a:endParaRPr>
          </a:p>
          <a:p>
            <a:r>
              <a:rPr lang="ru-RU" sz="3200" b="1" dirty="0">
                <a:solidFill>
                  <a:schemeClr val="tx2"/>
                </a:solidFill>
                <a:ea typeface="+mj-ea"/>
                <a:cs typeface="+mj-cs"/>
              </a:rPr>
              <a:t>Система позволяет выявлять ключевые факторы влияния на цену, строить прогнозы и искать исторические аналоги. </a:t>
            </a:r>
          </a:p>
          <a:p>
            <a:endParaRPr lang="en-US" sz="3200" b="1" dirty="0">
              <a:solidFill>
                <a:schemeClr val="tx2"/>
              </a:solidFill>
              <a:ea typeface="+mj-ea"/>
              <a:cs typeface="+mj-cs"/>
            </a:endParaRPr>
          </a:p>
          <a:p>
            <a:r>
              <a:rPr lang="ru-RU" sz="3200" b="1" dirty="0">
                <a:solidFill>
                  <a:schemeClr val="tx2"/>
                </a:solidFill>
                <a:ea typeface="+mj-ea"/>
                <a:cs typeface="+mj-cs"/>
              </a:rPr>
              <a:t>Спроектирована </a:t>
            </a:r>
            <a:r>
              <a:rPr lang="ru-RU" sz="3200" b="1" dirty="0" err="1">
                <a:solidFill>
                  <a:schemeClr val="tx2"/>
                </a:solidFill>
                <a:ea typeface="+mj-ea"/>
                <a:cs typeface="+mj-cs"/>
              </a:rPr>
              <a:t>MLOps</a:t>
            </a:r>
            <a:r>
              <a:rPr lang="ru-RU" sz="3200" b="1" dirty="0">
                <a:solidFill>
                  <a:schemeClr val="tx2"/>
                </a:solidFill>
                <a:ea typeface="+mj-ea"/>
                <a:cs typeface="+mj-cs"/>
              </a:rPr>
              <a:t>-архитектура. </a:t>
            </a:r>
          </a:p>
        </p:txBody>
      </p:sp>
    </p:spTree>
    <p:extLst>
      <p:ext uri="{BB962C8B-B14F-4D97-AF65-F5344CB8AC3E}">
        <p14:creationId xmlns:p14="http://schemas.microsoft.com/office/powerpoint/2010/main" val="247394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Шрифт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A34C8575-E6FB-01E5-367E-CDD95D0E97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081" b="83617"/>
          <a:stretch/>
        </p:blipFill>
        <p:spPr>
          <a:xfrm>
            <a:off x="-241008" y="2217906"/>
            <a:ext cx="6528954" cy="3093396"/>
          </a:xfrm>
          <a:prstGeom prst="rect">
            <a:avLst/>
          </a:prstGeom>
        </p:spPr>
      </p:pic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0DD1E406-F65D-3B04-610D-8AA1490E21C5}"/>
              </a:ext>
            </a:extLst>
          </p:cNvPr>
          <p:cNvSpPr txBox="1">
            <a:spLocks/>
          </p:cNvSpPr>
          <p:nvPr/>
        </p:nvSpPr>
        <p:spPr>
          <a:xfrm>
            <a:off x="7219776" y="3225995"/>
            <a:ext cx="4857747" cy="107721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sz="3200" dirty="0">
                <a:solidFill>
                  <a:schemeClr val="tx2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16720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16358</TotalTime>
  <Words>1598</Words>
  <Application>Microsoft Office PowerPoint</Application>
  <PresentationFormat>Широкоэкранный</PresentationFormat>
  <Paragraphs>217</Paragraphs>
  <Slides>17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Montserrat</vt:lpstr>
      <vt:lpstr>Calibri</vt:lpstr>
      <vt:lpstr>quote-cjk-patch</vt:lpstr>
      <vt:lpstr>Times New Roman</vt:lpstr>
      <vt:lpstr>Шаблон МИФИ</vt:lpstr>
      <vt:lpstr>Презентация PowerPoint</vt:lpstr>
      <vt:lpstr>Цель и задачи</vt:lpstr>
      <vt:lpstr>Источники и сбор данных</vt:lpstr>
      <vt:lpstr>Итоговая архитектура ИС</vt:lpstr>
      <vt:lpstr>LLM-классификация информационного фона</vt:lpstr>
      <vt:lpstr>LLM-классификация информационного фона</vt:lpstr>
      <vt:lpstr>Классификация информационного фона</vt:lpstr>
      <vt:lpstr>Фундаментальный анализ</vt:lpstr>
      <vt:lpstr>Структурные сдвиги в информационном фоне</vt:lpstr>
      <vt:lpstr>Структурные сдвиги в информационном фоне</vt:lpstr>
      <vt:lpstr>Структурные сдвиги в информационном фоне</vt:lpstr>
      <vt:lpstr>Топ ранговых корреляций </vt:lpstr>
      <vt:lpstr>Сравнение ML-моделей</vt:lpstr>
      <vt:lpstr>Прототип и MLOps  </vt:lpstr>
      <vt:lpstr>Прототип и MLOps  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Николай Иванюгин</cp:lastModifiedBy>
  <cp:revision>164</cp:revision>
  <dcterms:created xsi:type="dcterms:W3CDTF">2020-05-28T16:18:16Z</dcterms:created>
  <dcterms:modified xsi:type="dcterms:W3CDTF">2026-06-12T19:49:00Z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